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1000125" y="798872"/>
            <a:ext cx="7143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IDS/IPS Alert Analysis и Подобрение на Detection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000125" y="2038983"/>
            <a:ext cx="71437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Threat Hunting with SIEM 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98564" y="2758715"/>
            <a:ext cx="3546872" cy="31611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7" name="Text 4"/>
          <p:cNvSpPr/>
          <p:nvPr/>
        </p:nvSpPr>
        <p:spPr>
          <a:xfrm>
            <a:off x="2798564" y="2758715"/>
            <a:ext cx="3546872" cy="316111"/>
          </a:xfrm>
          <a:prstGeom prst="rect">
            <a:avLst/>
          </a:prstGeom>
          <a:noFill/>
          <a:ln/>
        </p:spPr>
        <p:txBody>
          <a:bodyPr wrap="square" lIns="212598" tIns="85090" rIns="212598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Висше Училище по Телекомуникации и Пощи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00300" y="3181983"/>
            <a:ext cx="4343400" cy="316111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2400300" y="3181983"/>
            <a:ext cx="4343400" cy="316111"/>
          </a:xfrm>
          <a:prstGeom prst="rect">
            <a:avLst/>
          </a:prstGeom>
          <a:noFill/>
          <a:ln/>
        </p:spPr>
        <p:txBody>
          <a:bodyPr wrap="square" lIns="212598" tIns="85090" rIns="212598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Автор: Александър Панов | Студентски номер: 24211009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80755" y="3605250"/>
            <a:ext cx="2782491" cy="31611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1" name="Text 8"/>
          <p:cNvSpPr/>
          <p:nvPr/>
        </p:nvSpPr>
        <p:spPr>
          <a:xfrm>
            <a:off x="3180755" y="3605250"/>
            <a:ext cx="2782491" cy="316111"/>
          </a:xfrm>
          <a:prstGeom prst="rect">
            <a:avLst/>
          </a:prstGeom>
          <a:noFill/>
          <a:ln/>
        </p:spPr>
        <p:txBody>
          <a:bodyPr wrap="square" lIns="212598" tIns="85090" rIns="212598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Ръководител: Мирослав Стефанов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02286" y="4028517"/>
            <a:ext cx="1139428" cy="316111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3" name="Text 10"/>
          <p:cNvSpPr/>
          <p:nvPr/>
        </p:nvSpPr>
        <p:spPr>
          <a:xfrm>
            <a:off x="4002286" y="4028517"/>
            <a:ext cx="1139428" cy="316111"/>
          </a:xfrm>
          <a:prstGeom prst="rect">
            <a:avLst/>
          </a:prstGeom>
          <a:noFill/>
          <a:ln/>
        </p:spPr>
        <p:txBody>
          <a:bodyPr wrap="none" lIns="212598" tIns="85090" rIns="212598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28.04.2026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IDS/IPS — Дигиталните Граничари на Корпоративната Мрежа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77437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на сценария и ролята на системите за детекция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233357"/>
            <a:ext cx="2476509" cy="21431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447670"/>
            <a:ext cx="2047884" cy="50006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IDS (Intrusion Detection System)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5813" y="2090607"/>
            <a:ext cx="2047884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Пасивно устройство, което наблюдава трафика и сигнализира при откриване на аномалии, без да предприема действия за блокиране на заплахата. Служи като "алармена система".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33759" y="1233357"/>
            <a:ext cx="2476509" cy="21431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7"/>
          <p:cNvSpPr/>
          <p:nvPr/>
        </p:nvSpPr>
        <p:spPr>
          <a:xfrm>
            <a:off x="3548072" y="1447670"/>
            <a:ext cx="2047884" cy="50006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IPS (Intrusion Prevention System)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48072" y="2090607"/>
            <a:ext cx="2047884" cy="128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Активно решение, поставено „inline“ в мрежата. Може автоматично да блокира злонамерен трафик в реално време, предотвратявайки проникването преди да достигне целта.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6019" y="1233357"/>
            <a:ext cx="2476509" cy="21431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0"/>
          <p:cNvSpPr/>
          <p:nvPr/>
        </p:nvSpPr>
        <p:spPr>
          <a:xfrm>
            <a:off x="6310331" y="1447670"/>
            <a:ext cx="939403" cy="28217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NIDS &amp; HIDS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10331" y="1872723"/>
            <a:ext cx="2047884" cy="146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NIDS (Network IDS):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Анализира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целия мрежов сегмент в реално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време (Suricata, Snort, Zeek).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HIDS (Host-based IDS):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Защитава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 конкретно крайно устройство,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анализирайки локалните логове и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процеси.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1500" y="3662232"/>
            <a:ext cx="8001000" cy="71437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6" name="Text 13"/>
          <p:cNvSpPr/>
          <p:nvPr/>
        </p:nvSpPr>
        <p:spPr>
          <a:xfrm>
            <a:off x="857250" y="3917621"/>
            <a:ext cx="74295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Основното предизвикателство: </a:t>
            </a: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Огромен обем данни</a:t>
            </a: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трябва да се обработи без забавяне на мрежовия </a:t>
            </a: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трафик.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Двата Ключови Проблема на Традиционните IDS Системи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77437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Сигнатурен анализ и хардуерни ограничения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233357"/>
            <a:ext cx="3857625" cy="2133023"/>
          </a:xfrm>
          <a:prstGeom prst="rect">
            <a:avLst/>
          </a:prstGeom>
          <a:solidFill>
            <a:srgbClr val="FAFAFA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5813" y="1447670"/>
            <a:ext cx="34147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ПРОБЛЕМ 1 — СИГНАТУРЕН АНАЛИЗ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5813" y="1829860"/>
            <a:ext cx="2932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Традиционните системи разчитат на съвпадение на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85813" y="2012724"/>
            <a:ext cx="176272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конкретни модели (сигнатури).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28688" y="2245593"/>
            <a:ext cx="327183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Напълно безполезен срещу </a:t>
            </a: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Zero-day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заплахи.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28688" y="2499894"/>
            <a:ext cx="32718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Лесно може да бъде заобиколен чрез криптиране и маскиране (обфускиране) на трафика.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28688" y="2937058"/>
            <a:ext cx="327183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Реактивен, а не проактивен подход.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00588" y="1233357"/>
            <a:ext cx="3871913" cy="2133023"/>
          </a:xfrm>
          <a:prstGeom prst="rect">
            <a:avLst/>
          </a:prstGeom>
          <a:solidFill>
            <a:srgbClr val="FAFAFA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29188" y="1447670"/>
            <a:ext cx="3429000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ПРОБЛЕМ 2 — ХАРДУЕРНИ ОГРАНИЧЕНИЯ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29188" y="2047745"/>
            <a:ext cx="26128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Нарастването на броя на сигнатурите води до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929188" y="2230608"/>
            <a:ext cx="330219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експоненциално натоварване на изчислителните ресурси.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72063" y="2463478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Правилото на златната среда: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CPU за всеки 1 000 сигнатури или всеки 0.5 Gbps трафик (за Suricata).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72063" y="2900642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Огромна цена за поддръжка на мащабируемост при 10/40 Gbps мрежи.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71500" y="3623556"/>
            <a:ext cx="8001000" cy="119936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0" name="Text 17"/>
          <p:cNvSpPr/>
          <p:nvPr/>
        </p:nvSpPr>
        <p:spPr>
          <a:xfrm>
            <a:off x="857250" y="3837868"/>
            <a:ext cx="74295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Критичен Праг &amp; Последствия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57250" y="4091471"/>
            <a:ext cx="742950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10/20-ядрена конфигурация (Intel Xeon E5-2650 v3) се достига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натоварване</a:t>
            </a:r>
            <a:r>
              <a:rPr lang="en-US" sz="8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при обработка на едва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Kbps</a:t>
            </a:r>
            <a:r>
              <a:rPr lang="en-US" sz="8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неоптимизиран трафик.</a:t>
            </a:r>
            <a:r>
              <a:rPr lang="en-US" sz="8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Последствие:</a:t>
            </a:r>
            <a:r>
              <a:rPr lang="en-US" sz="8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Без подходящо паралелизиране, системата започва да „изпуска“ пакети, което създава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слепи петна в сигурността</a:t>
            </a:r>
            <a:r>
              <a:rPr lang="en-US" sz="8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001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От Сигнатурен към Поведенчески Анализ — Еволюцията на Детекцията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048680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Анализирани процеси и бъдещи подходи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507666"/>
            <a:ext cx="4629150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507666"/>
            <a:ext cx="42863" cy="9108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1650541"/>
            <a:ext cx="42719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Идентификация на Аномалии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0094" y="1904144"/>
            <a:ext cx="42719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на статистическите характеристики на мрежовия поток (Flow) — продължителност, брой пакети, интервали, вместо търсене на конкретен байт в пакета.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71500" y="2632807"/>
            <a:ext cx="4629150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632807"/>
            <a:ext cx="42863" cy="9108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750094" y="2775682"/>
            <a:ext cx="42719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Автоматизация на Реакцията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0094" y="3029285"/>
            <a:ext cx="42719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на изкуствен интелект (AI) за разграничаване на нормален трафик от опити за пробив в реално време, намалявайки нуждата от ръчна намеса.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1500" y="3757947"/>
            <a:ext cx="4629150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757947"/>
            <a:ext cx="42863" cy="9108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750094" y="3900822"/>
            <a:ext cx="42719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Сравнителен Анализ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0094" y="4154425"/>
            <a:ext cx="42719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Многонишковата архитектура на Suricata се справя значително по-добре от по-стари системи като Snort при обработката на съвременни масиви от данни.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0" y="1507666"/>
            <a:ext cx="3086100" cy="320720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9" name="Text 16"/>
          <p:cNvSpPr/>
          <p:nvPr/>
        </p:nvSpPr>
        <p:spPr>
          <a:xfrm>
            <a:off x="5772150" y="2016547"/>
            <a:ext cx="251460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РЕШЕНИЕТО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772150" y="2414811"/>
            <a:ext cx="251460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Внедряване на </a:t>
            </a:r>
            <a:r>
              <a:rPr lang="en-US" sz="9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Машинно Обучение (XGBoost)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 преодоляване на 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ограниченията на класическите 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системи, които не могат да се справят 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 с добавяне на хардуер.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772150" y="3729149"/>
            <a:ext cx="2514600" cy="7625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Цел: Намаляване на False Positives и Alert Fatigue при SOC анализаторите.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357188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CSE-CIC-IDS2018 — Най-Всеобхватният Публичен Dataset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702934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Описание и характеристики на данните за Мрежова Сигурност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1090482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Генериран от: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1313724"/>
            <a:ext cx="38165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Communications Security Establishment (CSE) &amp; Canadian Institute for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1485174"/>
            <a:ext cx="13876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(CIC), UNB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1747707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Инфраструктура: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1970949"/>
            <a:ext cx="377725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 изчислителни възела, 30 сървъра, 5 отдела; 10 дни симулация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2233482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Обем на данните: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1500" y="2456724"/>
            <a:ext cx="17037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&gt;450 GB сурови данни (pcap)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75284" y="2456724"/>
            <a:ext cx="20913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CSV файлове с &gt;80 характеристики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1500" y="2628174"/>
            <a:ext cx="12180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мрежовите потоци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14875" y="1090482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Обхванати атаки: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14875" y="1313724"/>
            <a:ext cx="37129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Brute-force, DoS, DDoS, Web Attacks, Infiltration, Botnet, Heartbleed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14875" y="1576257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Предимство пред KDD99: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14875" y="1799499"/>
            <a:ext cx="38040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Включва съвременни протоколи (HTTP, HTTPS, FTP, SSH) и реално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14875" y="1970949"/>
            <a:ext cx="31736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поведение на трафика, отразяващо актуалните заплахи.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71500" y="3105020"/>
            <a:ext cx="8001000" cy="193059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1" name="Shape 18"/>
          <p:cNvSpPr/>
          <p:nvPr/>
        </p:nvSpPr>
        <p:spPr>
          <a:xfrm>
            <a:off x="585788" y="3119307"/>
            <a:ext cx="7972425" cy="191631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19"/>
          <p:cNvSpPr/>
          <p:nvPr/>
        </p:nvSpPr>
        <p:spPr>
          <a:xfrm>
            <a:off x="585788" y="3119307"/>
            <a:ext cx="1864882" cy="335756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3" name="Text 20"/>
          <p:cNvSpPr/>
          <p:nvPr/>
        </p:nvSpPr>
        <p:spPr>
          <a:xfrm>
            <a:off x="585788" y="3119307"/>
            <a:ext cx="1864882" cy="3357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Характеристика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450669" y="3119307"/>
            <a:ext cx="2865174" cy="335756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5" name="Text 22"/>
          <p:cNvSpPr/>
          <p:nvPr/>
        </p:nvSpPr>
        <p:spPr>
          <a:xfrm>
            <a:off x="2450669" y="3119307"/>
            <a:ext cx="2865174" cy="3357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Описание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315843" y="3119307"/>
            <a:ext cx="3242370" cy="335756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7" name="Text 24"/>
          <p:cNvSpPr/>
          <p:nvPr/>
        </p:nvSpPr>
        <p:spPr>
          <a:xfrm>
            <a:off x="5315843" y="3119307"/>
            <a:ext cx="3242370" cy="3357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Значение за детекцията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5788" y="3455064"/>
            <a:ext cx="1864882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Destination Port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450669" y="3455064"/>
            <a:ext cx="2865174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Портът на целевата машина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315843" y="3455064"/>
            <a:ext cx="3242370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Scanning, специфични услуги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85788" y="3767603"/>
            <a:ext cx="1864882" cy="31611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2" name="Shape 29"/>
          <p:cNvSpPr/>
          <p:nvPr/>
        </p:nvSpPr>
        <p:spPr>
          <a:xfrm>
            <a:off x="585788" y="4076570"/>
            <a:ext cx="1864882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0"/>
          <p:cNvSpPr/>
          <p:nvPr/>
        </p:nvSpPr>
        <p:spPr>
          <a:xfrm>
            <a:off x="585788" y="3767603"/>
            <a:ext cx="1864882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Flow Duration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450669" y="3767603"/>
            <a:ext cx="2865174" cy="31611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Shape 32"/>
          <p:cNvSpPr/>
          <p:nvPr/>
        </p:nvSpPr>
        <p:spPr>
          <a:xfrm>
            <a:off x="2450669" y="4076570"/>
            <a:ext cx="2865174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3"/>
          <p:cNvSpPr/>
          <p:nvPr/>
        </p:nvSpPr>
        <p:spPr>
          <a:xfrm>
            <a:off x="2450669" y="3767603"/>
            <a:ext cx="2865174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Продължителност на сесията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15843" y="3767603"/>
            <a:ext cx="3242370" cy="31611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8" name="Shape 35"/>
          <p:cNvSpPr/>
          <p:nvPr/>
        </p:nvSpPr>
        <p:spPr>
          <a:xfrm>
            <a:off x="5315843" y="4076570"/>
            <a:ext cx="324237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6"/>
          <p:cNvSpPr/>
          <p:nvPr/>
        </p:nvSpPr>
        <p:spPr>
          <a:xfrm>
            <a:off x="5315843" y="3767603"/>
            <a:ext cx="324237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(кратка) / Infiltration (дълга)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85788" y="4080142"/>
            <a:ext cx="1864882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Fwd Packets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450669" y="4080142"/>
            <a:ext cx="2865174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Брой пакети напред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315843" y="4080142"/>
            <a:ext cx="3242370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Обемни атаки (DDoS)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85788" y="4392681"/>
            <a:ext cx="1864882" cy="31611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4" name="Shape 41"/>
          <p:cNvSpPr/>
          <p:nvPr/>
        </p:nvSpPr>
        <p:spPr>
          <a:xfrm>
            <a:off x="585788" y="4701648"/>
            <a:ext cx="1864882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2"/>
          <p:cNvSpPr/>
          <p:nvPr/>
        </p:nvSpPr>
        <p:spPr>
          <a:xfrm>
            <a:off x="585788" y="4392681"/>
            <a:ext cx="1864882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Flow IAT Mean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450669" y="4392681"/>
            <a:ext cx="2865174" cy="31611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7" name="Shape 44"/>
          <p:cNvSpPr/>
          <p:nvPr/>
        </p:nvSpPr>
        <p:spPr>
          <a:xfrm>
            <a:off x="2450669" y="4701648"/>
            <a:ext cx="2865174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5"/>
          <p:cNvSpPr/>
          <p:nvPr/>
        </p:nvSpPr>
        <p:spPr>
          <a:xfrm>
            <a:off x="2450669" y="4392681"/>
            <a:ext cx="2865174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Средно време между потоци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315843" y="4392681"/>
            <a:ext cx="3242370" cy="31611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0" name="Shape 47"/>
          <p:cNvSpPr/>
          <p:nvPr/>
        </p:nvSpPr>
        <p:spPr>
          <a:xfrm>
            <a:off x="5315843" y="4701648"/>
            <a:ext cx="324237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Text 48"/>
          <p:cNvSpPr/>
          <p:nvPr/>
        </p:nvSpPr>
        <p:spPr>
          <a:xfrm>
            <a:off x="5315843" y="4392681"/>
            <a:ext cx="324237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Botnet комуникация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585788" y="4705220"/>
            <a:ext cx="1864882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Label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2450669" y="4705220"/>
            <a:ext cx="2865174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Benign или тип атака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315843" y="4705220"/>
            <a:ext cx="3242370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променлива за ML модела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357188"/>
            <a:ext cx="8001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SMOTE — Златният Стандарт за Балансиране на Небалансирани Данни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977243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Предизвикателството на дисбаланса и решението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364791"/>
            <a:ext cx="3893344" cy="892969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64791"/>
            <a:ext cx="28575" cy="892969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507666"/>
            <a:ext cx="35933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Проблемът с Дисбаланса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4375" y="1743410"/>
            <a:ext cx="35933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Съотношението </a:t>
            </a: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Benign трафик : Атаки = ~1 000 : 1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Без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балансиране, моделът се научава да игнорира редките, но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критични атаки, за да постигне висока обща точност.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4869" y="1364791"/>
            <a:ext cx="3907631" cy="892969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4664869" y="1364791"/>
            <a:ext cx="28575" cy="892969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4822031" y="1507666"/>
            <a:ext cx="36075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Хардуерни Ограничения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22031" y="1743410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GB CSV файл заема ≈ 25–30 GB RAM. Ограниченията на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средата (напр. 12 GB в Colab) налагат задължителен </a:t>
            </a: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(5%)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 обработка на данните.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8644" y="2475644"/>
            <a:ext cx="1822884" cy="239316"/>
          </a:xfrm>
          <a:prstGeom prst="rect">
            <a:avLst/>
          </a:prstGeom>
          <a:solidFill>
            <a:srgbClr val="18181B"/>
          </a:solidFill>
          <a:ln w="9144">
            <a:solidFill>
              <a:srgbClr val="1818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8644" y="2475644"/>
            <a:ext cx="1822884" cy="239316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Техника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401528" y="2475644"/>
            <a:ext cx="2041801" cy="239316"/>
          </a:xfrm>
          <a:prstGeom prst="rect">
            <a:avLst/>
          </a:prstGeom>
          <a:solidFill>
            <a:srgbClr val="18181B"/>
          </a:solidFill>
          <a:ln w="9144">
            <a:solidFill>
              <a:srgbClr val="1818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01528" y="2475644"/>
            <a:ext cx="2041801" cy="239316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Описание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443329" y="2475644"/>
            <a:ext cx="1961908" cy="239316"/>
          </a:xfrm>
          <a:prstGeom prst="rect">
            <a:avLst/>
          </a:prstGeom>
          <a:solidFill>
            <a:srgbClr val="18181B"/>
          </a:solidFill>
          <a:ln w="9144">
            <a:solidFill>
              <a:srgbClr val="18181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3329" y="2475644"/>
            <a:ext cx="1961908" cy="239316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Предимства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404818" y="2475644"/>
            <a:ext cx="2160538" cy="239316"/>
          </a:xfrm>
          <a:prstGeom prst="rect">
            <a:avLst/>
          </a:prstGeom>
          <a:solidFill>
            <a:srgbClr val="18181B"/>
          </a:solidFill>
          <a:ln w="9144">
            <a:solidFill>
              <a:srgbClr val="18181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4818" y="2475644"/>
            <a:ext cx="2160538" cy="239316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Недостатъци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8644" y="2707816"/>
            <a:ext cx="1823638" cy="367903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Under-sampling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402281" y="2707816"/>
            <a:ext cx="2042471" cy="367903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Изтрива записи от мнозинствения клас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444752" y="2707816"/>
            <a:ext cx="1959704" cy="367903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Бързо, намалява обема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404456" y="2707816"/>
            <a:ext cx="2160901" cy="367903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Губим ценна информация за нормалния трафик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78644" y="3075719"/>
            <a:ext cx="7986713" cy="3714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4"/>
          <p:cNvSpPr/>
          <p:nvPr/>
        </p:nvSpPr>
        <p:spPr>
          <a:xfrm>
            <a:off x="578644" y="3075719"/>
            <a:ext cx="1823638" cy="371475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Over-sampling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2402281" y="3075719"/>
            <a:ext cx="2042471" cy="371475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Дублира записи от малцинствения клас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444752" y="3075719"/>
            <a:ext cx="1959704" cy="371475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Лесно и бързо изпълнение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404456" y="3075719"/>
            <a:ext cx="2160901" cy="371475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Висок риск от overfitting (пренапасване)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78644" y="3447194"/>
            <a:ext cx="7986713" cy="375047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78644" y="3447194"/>
            <a:ext cx="1823638" cy="375047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2563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8644" y="3447194"/>
            <a:ext cx="1823638" cy="375047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 (Synthetic Minority Over-sampling)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394300" y="3447194"/>
            <a:ext cx="2044954" cy="375047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2563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94300" y="3447194"/>
            <a:ext cx="2044954" cy="375047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Създава нови синтетични записи чрез k-NN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433395" y="3447194"/>
            <a:ext cx="1965368" cy="375047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33395" y="3447194"/>
            <a:ext cx="1965368" cy="375047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Намалява overfitting, подобрява детекцията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396558" y="3447194"/>
            <a:ext cx="2168798" cy="375047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2563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96558" y="3447194"/>
            <a:ext cx="2168798" cy="375047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По-висока изчислителна сложност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71500" y="4022266"/>
            <a:ext cx="8001000" cy="571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1" name="Text 38"/>
          <p:cNvSpPr/>
          <p:nvPr/>
        </p:nvSpPr>
        <p:spPr>
          <a:xfrm>
            <a:off x="785813" y="4185679"/>
            <a:ext cx="7572375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Защо SMOTE?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киберсигурността е критично моделът да разпознава </a:t>
            </a:r>
            <a:r>
              <a:rPr lang="en-US" sz="950" i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вариациите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дадена атака, а не само 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конкретните примери, които вече е виждал.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XGBoost Доминира — Сравнение на ML Модели за IDS/IPS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77437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vs. Random Forest vs. SVM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161920"/>
            <a:ext cx="3929063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161920"/>
            <a:ext cx="42863" cy="9108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304795"/>
            <a:ext cx="36433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Feature Selection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4375" y="1558398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 топ 15–20 от 80 характеристики (чрез Feature Importance) носят 95% от информацията, което води до по-висока скорост на детекция.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43438" y="1161920"/>
            <a:ext cx="3929063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4643438" y="1161920"/>
            <a:ext cx="42863" cy="9108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4786313" y="1304795"/>
            <a:ext cx="36433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XGBoost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86313" y="1558398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Бустинг модел с паралелна обработка, оптимизиран за скорост и производителност — де факто стандарт за таблични данни.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1500" y="2215623"/>
            <a:ext cx="3929063" cy="85725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2215623"/>
            <a:ext cx="42863" cy="8572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2358498"/>
            <a:ext cx="36433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14375" y="2612101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Баггинг модел, който е стабилен, но по-бавен и изисква повече ресурси за съхранение („тежък“).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43438" y="2215623"/>
            <a:ext cx="3929063" cy="85725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6"/>
          <p:cNvSpPr/>
          <p:nvPr/>
        </p:nvSpPr>
        <p:spPr>
          <a:xfrm>
            <a:off x="4643438" y="2215623"/>
            <a:ext cx="42863" cy="8572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4786313" y="2358498"/>
            <a:ext cx="36433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SVM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86313" y="2612101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Точен при малки обеми, но с O(n²)–O(n³) сложност, което го прави неподходящ за реални IPS системи с милиони записи.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1500" y="3358623"/>
            <a:ext cx="1876546" cy="38576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3730098"/>
            <a:ext cx="1876546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3358623"/>
            <a:ext cx="1876546" cy="38576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Модел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48046" y="3358623"/>
            <a:ext cx="1205815" cy="38576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3"/>
          <p:cNvSpPr/>
          <p:nvPr/>
        </p:nvSpPr>
        <p:spPr>
          <a:xfrm>
            <a:off x="2448046" y="3730098"/>
            <a:ext cx="1205815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7" name="Text 24"/>
          <p:cNvSpPr/>
          <p:nvPr/>
        </p:nvSpPr>
        <p:spPr>
          <a:xfrm>
            <a:off x="2448046" y="3358623"/>
            <a:ext cx="1205815" cy="38576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3861" y="3358623"/>
            <a:ext cx="1169175" cy="38576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6"/>
          <p:cNvSpPr/>
          <p:nvPr/>
        </p:nvSpPr>
        <p:spPr>
          <a:xfrm>
            <a:off x="3653861" y="3730098"/>
            <a:ext cx="1169175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0" name="Text 27"/>
          <p:cNvSpPr/>
          <p:nvPr/>
        </p:nvSpPr>
        <p:spPr>
          <a:xfrm>
            <a:off x="3653861" y="3358623"/>
            <a:ext cx="1169175" cy="38576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Precision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23036" y="3358623"/>
            <a:ext cx="769655" cy="38576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29"/>
          <p:cNvSpPr/>
          <p:nvPr/>
        </p:nvSpPr>
        <p:spPr>
          <a:xfrm>
            <a:off x="4823036" y="3730098"/>
            <a:ext cx="769655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3" name="Text 30"/>
          <p:cNvSpPr/>
          <p:nvPr/>
        </p:nvSpPr>
        <p:spPr>
          <a:xfrm>
            <a:off x="4823036" y="3358623"/>
            <a:ext cx="769655" cy="38576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Recall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92691" y="3358623"/>
            <a:ext cx="1106863" cy="38576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Shape 32"/>
          <p:cNvSpPr/>
          <p:nvPr/>
        </p:nvSpPr>
        <p:spPr>
          <a:xfrm>
            <a:off x="5592691" y="3730098"/>
            <a:ext cx="1106863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6" name="Text 33"/>
          <p:cNvSpPr/>
          <p:nvPr/>
        </p:nvSpPr>
        <p:spPr>
          <a:xfrm>
            <a:off x="5592691" y="3358623"/>
            <a:ext cx="1106863" cy="38576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F1-Score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699554" y="3358623"/>
            <a:ext cx="1872946" cy="38576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35"/>
          <p:cNvSpPr/>
          <p:nvPr/>
        </p:nvSpPr>
        <p:spPr>
          <a:xfrm>
            <a:off x="6699554" y="3730098"/>
            <a:ext cx="1872946" cy="1428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9" name="Text 36"/>
          <p:cNvSpPr/>
          <p:nvPr/>
        </p:nvSpPr>
        <p:spPr>
          <a:xfrm>
            <a:off x="6699554" y="3358623"/>
            <a:ext cx="1872946" cy="38576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Inference Time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71500" y="3737242"/>
            <a:ext cx="8001000" cy="369689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41" name="Text 38"/>
          <p:cNvSpPr/>
          <p:nvPr/>
        </p:nvSpPr>
        <p:spPr>
          <a:xfrm>
            <a:off x="571500" y="3737242"/>
            <a:ext cx="1876546" cy="36968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448046" y="3737242"/>
            <a:ext cx="1205815" cy="369689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653861" y="3737242"/>
            <a:ext cx="1169175" cy="369689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23036" y="3737242"/>
            <a:ext cx="769655" cy="369689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592691" y="3737242"/>
            <a:ext cx="1106863" cy="369689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699554" y="3737242"/>
            <a:ext cx="1872946" cy="36968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Най-бързо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71500" y="4106931"/>
            <a:ext cx="1876546" cy="373261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2448046" y="4106931"/>
            <a:ext cx="1205815" cy="373261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3653861" y="4106931"/>
            <a:ext cx="1169175" cy="373261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4823036" y="4106931"/>
            <a:ext cx="769655" cy="373261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5592691" y="4106931"/>
            <a:ext cx="1106863" cy="373261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0.95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699554" y="4106931"/>
            <a:ext cx="1872946" cy="373261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Средно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571500" y="4480192"/>
            <a:ext cx="1876546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2448046" y="4480192"/>
            <a:ext cx="1205815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3653861" y="4480192"/>
            <a:ext cx="1169175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823036" y="4480192"/>
            <a:ext cx="769655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5592691" y="4480192"/>
            <a:ext cx="1106863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699554" y="4480192"/>
            <a:ext cx="1872946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Бавно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Скоростта е Критична — Аргументация за Real-Time IPS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77437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Защо Inference Time е водещият приоритет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233357"/>
            <a:ext cx="2524116" cy="174664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4"/>
          <p:cNvSpPr/>
          <p:nvPr/>
        </p:nvSpPr>
        <p:spPr>
          <a:xfrm>
            <a:off x="750094" y="1411951"/>
            <a:ext cx="1435894" cy="23931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Prevention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0094" y="1758423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Решението „Drop“ или „Allow“ трябва да се вземе за микросекунди.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50094" y="2208479"/>
            <a:ext cx="2166928" cy="42862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2338853"/>
            <a:ext cx="188117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секунди закъснение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компрометирана мрежа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09928" y="1233357"/>
            <a:ext cx="2524116" cy="174664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9"/>
          <p:cNvSpPr/>
          <p:nvPr/>
        </p:nvSpPr>
        <p:spPr>
          <a:xfrm>
            <a:off x="3488522" y="1411951"/>
            <a:ext cx="823317" cy="239316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88522" y="1758423"/>
            <a:ext cx="21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Модерните мрежи работят на изключително високи скорости. XGBoost обработва хиляди потоци/секунда без загуба на пакети.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88522" y="2551379"/>
            <a:ext cx="2166928" cy="42862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5" name="Text 12"/>
          <p:cNvSpPr/>
          <p:nvPr/>
        </p:nvSpPr>
        <p:spPr>
          <a:xfrm>
            <a:off x="3631397" y="2750511"/>
            <a:ext cx="12662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Капацитет: </a:t>
            </a: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10/40 Gbps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048356" y="1233357"/>
            <a:ext cx="2524116" cy="174664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4"/>
          <p:cNvSpPr/>
          <p:nvPr/>
        </p:nvSpPr>
        <p:spPr>
          <a:xfrm>
            <a:off x="6226950" y="1411951"/>
            <a:ext cx="557213" cy="239316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Latency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26950" y="1758423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Всеки допълнителен слой за сигурност добавя латентност. Оптимизацията е задължителна.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26950" y="2379929"/>
            <a:ext cx="2166928" cy="42862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0" name="Text 17"/>
          <p:cNvSpPr/>
          <p:nvPr/>
        </p:nvSpPr>
        <p:spPr>
          <a:xfrm>
            <a:off x="6369825" y="2510303"/>
            <a:ext cx="188117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Сигурността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пречи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потребителите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71500" y="3194317"/>
            <a:ext cx="3893344" cy="1468041"/>
          </a:xfrm>
          <a:prstGeom prst="rect">
            <a:avLst/>
          </a:prstGeom>
          <a:solidFill>
            <a:srgbClr val="FAFAFA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094" y="3372910"/>
            <a:ext cx="1450181" cy="23931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SMOTE + Recall &gt;95%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0094" y="3719382"/>
            <a:ext cx="3521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Балансирането на данните гарантира, че критичните атаки не се пропускат, дори когато са рядкост в общия трафик.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50094" y="4205157"/>
            <a:ext cx="3521869" cy="4286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892969" y="4404289"/>
            <a:ext cx="191095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Минимизиране на </a:t>
            </a:r>
            <a:r>
              <a:rPr lang="en-US" sz="8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Negatives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664869" y="3194317"/>
            <a:ext cx="3907631" cy="1468041"/>
          </a:xfrm>
          <a:prstGeom prst="rect">
            <a:avLst/>
          </a:prstGeom>
          <a:solidFill>
            <a:srgbClr val="FAFAFA"/>
          </a:solidFill>
          <a:ln w="18288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372910"/>
            <a:ext cx="1185863" cy="239316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57750" y="3719382"/>
            <a:ext cx="3536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Основен инструмент за мониторинг на ефективността на модела в реално време.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857750" y="4205157"/>
            <a:ext cx="3536156" cy="42862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0" name="Text 27"/>
          <p:cNvSpPr/>
          <p:nvPr/>
        </p:nvSpPr>
        <p:spPr>
          <a:xfrm>
            <a:off x="5000625" y="4404289"/>
            <a:ext cx="175021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върху </a:t>
            </a: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пропуснати атаки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001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Интелигентен Детекционен Модул — Архитектура на Реалното Решение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048680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работи системата в production среда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507666"/>
            <a:ext cx="3857625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507666"/>
            <a:ext cx="42863" cy="91082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1650541"/>
            <a:ext cx="35004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Traffic Mirroring (SPAN/TAP)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0094" y="1904144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Трафикът се дублира към сензор в „promiscuous mode“ — пасивно наблюдение, при което атакуващият не знае, че е наблюдаван.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71500" y="2561369"/>
            <a:ext cx="3857625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561369"/>
            <a:ext cx="42863" cy="91082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2" name="Text 9"/>
          <p:cNvSpPr/>
          <p:nvPr/>
        </p:nvSpPr>
        <p:spPr>
          <a:xfrm>
            <a:off x="750094" y="2704244"/>
            <a:ext cx="35004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Flow Exporter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0094" y="2957847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Инструменти като Argus или nProbe превръщат суровите пакети в статистически редове (80 характеристики, аналогични на CIC-IDS2018).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1500" y="3615072"/>
            <a:ext cx="3857625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615072"/>
            <a:ext cx="42863" cy="9108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750094" y="3757947"/>
            <a:ext cx="35004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Inference Engine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0094" y="4011550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Обученият XGBoost модел получава данните и прави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предсказание за милисекунди. Праг за детекция: </a:t>
            </a: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вероятност &gt; 85%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14875" y="1507666"/>
            <a:ext cx="3857625" cy="9108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6"/>
          <p:cNvSpPr/>
          <p:nvPr/>
        </p:nvSpPr>
        <p:spPr>
          <a:xfrm>
            <a:off x="4714875" y="1507666"/>
            <a:ext cx="42863" cy="9108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4893469" y="1650541"/>
            <a:ext cx="35004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 Action Layer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93469" y="1904144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Benign трафик: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Без действие.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трафик: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Автоматична API заявка към Firewall за </a:t>
            </a: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блокиране на Source IP (напр. за 1 час) или сигнал към SIEM.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14875" y="2561369"/>
            <a:ext cx="3857625" cy="85725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4714875" y="2561369"/>
            <a:ext cx="42863" cy="8572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4893469" y="2704244"/>
            <a:ext cx="35004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5. SIEM Интеграция (Splunk/ELK)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93469" y="2957847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Резултатите се изпращат като обобщени логове към SIEM системата, намалявайки шума за анализаторите.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14875" y="3632932"/>
            <a:ext cx="3857625" cy="1066205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7" name="Text 24"/>
          <p:cNvSpPr/>
          <p:nvPr/>
        </p:nvSpPr>
        <p:spPr>
          <a:xfrm>
            <a:off x="4929188" y="3847244"/>
            <a:ext cx="342900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Крайният Резултат за SOC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29188" y="4120493"/>
            <a:ext cx="3429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Вместо 10 000 отделни пакета, анализаторът вижда </a:t>
            </a: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една единствена аларма: 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„XGBoost: 99.2% вероятност за Botnet активност“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-2700000">
            <a:off x="2991445" y="991195"/>
            <a:ext cx="3161110" cy="316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750" b="1" dirty="0">
                <a:solidFill>
                  <a:srgbClr val="18181B">
                    <a:alpha val="5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24211009</a:t>
            </a:r>
            <a:endParaRPr lang="en-US" sz="7750" dirty="0"/>
          </a:p>
        </p:txBody>
      </p:sp>
      <p:sp>
        <p:nvSpPr>
          <p:cNvPr id="4" name="Text 1"/>
          <p:cNvSpPr/>
          <p:nvPr/>
        </p:nvSpPr>
        <p:spPr>
          <a:xfrm>
            <a:off x="571500" y="357188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Изводи и Пътят Напред — Подобрения на Системата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702934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Критично мислене и бъдещи стъпки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1090482"/>
            <a:ext cx="8001000" cy="85725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90482"/>
            <a:ext cx="57150" cy="8572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1278899"/>
            <a:ext cx="7572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ОСНОВЕН ИЗВОД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5813" y="1552147"/>
            <a:ext cx="7572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доминира по скорост и точност (F1=0.96). </a:t>
            </a: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значително подобри Recall за малцинствените класове. </a:t>
            </a: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</a:t>
            </a:r>
            <a:r>
              <a:rPr lang="en-US" sz="9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се оказа напълно неподходящ за реална работа при такъв огромен обем данни.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2162045"/>
            <a:ext cx="3911203" cy="93940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162045"/>
            <a:ext cx="3911203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750094" y="2304920"/>
            <a:ext cx="355401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0094" y="2558523"/>
            <a:ext cx="3554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Моделите остаряват с времето. Необходим е автоматизиран процес на дообучаване (Retraining) с нови данни всяка седмица, за да се запази ефективността.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1297" y="2162045"/>
            <a:ext cx="3911203" cy="93940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1297" y="2162045"/>
            <a:ext cx="3911203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4839891" y="2304920"/>
            <a:ext cx="355401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Explainable AI (XAI)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39891" y="2558523"/>
            <a:ext cx="3554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Използване на инструменти като SHAP за обяснение на решенията на модела. Това осигурява прозрачност и повишава доверието от страна на SOC анализаторите.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1500" y="3269326"/>
            <a:ext cx="3911203" cy="93940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269326"/>
            <a:ext cx="3911203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750094" y="3412201"/>
            <a:ext cx="355401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0094" y="3665804"/>
            <a:ext cx="3554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Тестване на Autoencoders за unsupervised anomaly detection. Това ще позволи откриване на аномалии без нужда от предварително етикетирани данни.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1297" y="3269326"/>
            <a:ext cx="3911203" cy="93940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4661297" y="3269326"/>
            <a:ext cx="3911203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4839891" y="3412201"/>
            <a:ext cx="355401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18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Намаляване на False Positives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39891" y="3665804"/>
            <a:ext cx="35540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Използване на модела като „второ мнение“ — автоматично затваряне на ниско-приоритетни аларми, генерирани от традиционните IDS системи.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2026-04-29T14:49:19Z</dcterms:created>
  <dcterms:modified xsi:type="dcterms:W3CDTF">2026-04-29T14:49:19Z</dcterms:modified>
</cp:coreProperties>
</file>